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BBE06B-FAE7-44B5-8F80-38A79415DA6B}">
  <a:tblStyle styleId="{60BBE06B-FAE7-44B5-8F80-38A79415DA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topic: finding routes on a campus map using four graph-search algorithms.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Inputs, outputs, constraints and objective.</a:t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path-finding matters.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Measurable objectives tied to the DAA flow.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searches and their limits.</a:t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Flow from problem to results.</a:t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each one was chosen.</a:t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Dijkstra, then show how A* differs.</a:t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User, processing, algorithm and output.</a:t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code, standard library only.</a:t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Input, processing, output, performance.</a:t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Averages over 7 random campuses per size; far-corner query; fastest of 3 runs.</a:t>
            </a:r>
            <a:endParaRPr/>
          </a:p>
        </p:txBody>
      </p:sp>
      <p:sp>
        <p:nvSpPr>
          <p:cNvPr id="240" name="Google Shape;2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 locations, E paths.</a:t>
            </a:r>
            <a:endParaRPr/>
          </a:p>
        </p:txBody>
      </p:sp>
      <p:sp>
        <p:nvSpPr>
          <p:cNvPr id="252" name="Google Shape;2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honest about limitations.</a:t>
            </a:r>
            <a:endParaRPr/>
          </a:p>
        </p:txBody>
      </p:sp>
      <p:sp>
        <p:nvSpPr>
          <p:cNvPr id="261" name="Google Shape;26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0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DB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CDB9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  |  5th Semester  |  Mini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731520" y="1371600"/>
            <a:ext cx="6949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Campus Navigation and Path-Finding System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731520" y="356616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DB9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A9CDB9"/>
                </a:solidFill>
                <a:latin typeface="Calibri"/>
                <a:ea typeface="Calibri"/>
                <a:cs typeface="Calibri"/>
                <a:sym typeface="Calibri"/>
              </a:rPr>
              <a:t>Routes between campus locations with BFS, DFS, Dijkstra and A*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31520" y="466344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Members: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Neel Patel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12402080601090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Sumit Makwana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12402080601133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Yash Bhanushai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12402080601156]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 flipH="1" rot="10800000">
            <a:off x="8595360" y="1920240"/>
            <a:ext cx="914400" cy="1005840"/>
          </a:xfrm>
          <a:prstGeom prst="straightConnector1">
            <a:avLst/>
          </a:prstGeom>
          <a:noFill/>
          <a:ln cap="flat" cmpd="sng" w="50800">
            <a:solidFill>
              <a:srgbClr val="1BAF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9509760" y="1920240"/>
            <a:ext cx="1188720" cy="457200"/>
          </a:xfrm>
          <a:prstGeom prst="straightConnector1">
            <a:avLst/>
          </a:prstGeom>
          <a:noFill/>
          <a:ln cap="flat" cmpd="sng" w="50800">
            <a:solidFill>
              <a:srgbClr val="1BAF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10698480" y="2377440"/>
            <a:ext cx="182880" cy="1371600"/>
          </a:xfrm>
          <a:prstGeom prst="straightConnector1">
            <a:avLst/>
          </a:prstGeom>
          <a:noFill/>
          <a:ln cap="flat" cmpd="sng" w="50800">
            <a:solidFill>
              <a:srgbClr val="1BAF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8595360" y="2926080"/>
            <a:ext cx="1097280" cy="1280160"/>
          </a:xfrm>
          <a:prstGeom prst="straightConnector1">
            <a:avLst/>
          </a:prstGeom>
          <a:noFill/>
          <a:ln cap="flat" cmpd="sng" w="19050">
            <a:solidFill>
              <a:srgbClr val="5F8A7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 flipH="1" rot="10800000">
            <a:off x="9692640" y="3749040"/>
            <a:ext cx="1188720" cy="457200"/>
          </a:xfrm>
          <a:prstGeom prst="straightConnector1">
            <a:avLst/>
          </a:prstGeom>
          <a:noFill/>
          <a:ln cap="flat" cmpd="sng" w="19050">
            <a:solidFill>
              <a:srgbClr val="5F8A7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 flipH="1" rot="10800000">
            <a:off x="8869680" y="4206240"/>
            <a:ext cx="822960" cy="914400"/>
          </a:xfrm>
          <a:prstGeom prst="straightConnector1">
            <a:avLst/>
          </a:prstGeom>
          <a:noFill/>
          <a:ln cap="flat" cmpd="sng" w="19050">
            <a:solidFill>
              <a:srgbClr val="5F8A7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8339328" y="2670048"/>
            <a:ext cx="512064" cy="512064"/>
          </a:xfrm>
          <a:prstGeom prst="ellipse">
            <a:avLst/>
          </a:prstGeom>
          <a:solidFill>
            <a:srgbClr val="1D2A2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253728" y="1664208"/>
            <a:ext cx="512064" cy="512064"/>
          </a:xfrm>
          <a:prstGeom prst="ellipse">
            <a:avLst/>
          </a:prstGeom>
          <a:solidFill>
            <a:srgbClr val="2E7D5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0442448" y="2121408"/>
            <a:ext cx="512064" cy="512064"/>
          </a:xfrm>
          <a:prstGeom prst="ellipse">
            <a:avLst/>
          </a:prstGeom>
          <a:solidFill>
            <a:srgbClr val="2E7D5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625328" y="3493008"/>
            <a:ext cx="512064" cy="512064"/>
          </a:xfrm>
          <a:prstGeom prst="ellipse">
            <a:avLst/>
          </a:prstGeom>
          <a:solidFill>
            <a:srgbClr val="2E7D5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9436608" y="3950208"/>
            <a:ext cx="512064" cy="512064"/>
          </a:xfrm>
          <a:prstGeom prst="ellipse">
            <a:avLst/>
          </a:prstGeom>
          <a:solidFill>
            <a:srgbClr val="2E7D5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613648" y="4864608"/>
            <a:ext cx="512064" cy="512064"/>
          </a:xfrm>
          <a:prstGeom prst="ellipse">
            <a:avLst/>
          </a:prstGeom>
          <a:solidFill>
            <a:srgbClr val="D9342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Represent campus locations as a weighted graph and find routes between two locations with BFS, DFS, Dijkstra and A*, then compare the algorithms on route quality and performance.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233172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822960" y="297180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Campus graph (locations with x, y in metres; walking paths with lengths), start and destination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172200" y="233172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6446520" y="25146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6446520" y="297180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Route, distance (m), hops, places explored, peak queue size and time for each algorithm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438912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822960" y="4572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822960" y="502920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Undirected graph; path lengths positive and never shorter than the straight line; destination may be unreachable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172200" y="438912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6446520" y="4572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6446520" y="502920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Find the shortest walking route and show how the four algorithms differ in quality and cost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Motivation and Real-World Application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40080" y="1463040"/>
            <a:ext cx="731520" cy="731520"/>
          </a:xfrm>
          <a:prstGeom prst="ellipse">
            <a:avLst/>
          </a:prstGeom>
          <a:solidFill>
            <a:srgbClr val="1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/>
        </p:nvSpPr>
        <p:spPr>
          <a:xfrm>
            <a:off x="1645920" y="13258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Where it is used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1645920" y="178308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Maps and navigation apps, delivery routing, game AI, robotics, indoor wayfinding in campuses, hospitals and malls.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1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 txBox="1"/>
          <p:nvPr/>
        </p:nvSpPr>
        <p:spPr>
          <a:xfrm>
            <a:off x="1645920" y="2606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Why it matters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1645920" y="306324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New students and visitors lose time on large campuses; a good route saves walking distance.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1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4206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/>
          <p:nvPr/>
        </p:nvSpPr>
        <p:spPr>
          <a:xfrm>
            <a:off x="1645920" y="38862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Who benefits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1645920" y="434340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Students, visitors, event organisers and campus administrators planning signage and shuttles.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1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5486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 txBox="1"/>
          <p:nvPr/>
        </p:nvSpPr>
        <p:spPr>
          <a:xfrm>
            <a:off x="1645920" y="516636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Why it suits DAA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1645920" y="56235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Same problem, four algorithms with different guarantees and costs: a clean case for complexity and experiments.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1371600"/>
            <a:ext cx="54406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1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822960" y="17830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1645920" y="155448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Model the campus as a weighted graph using an adjacency list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172200" y="1371600"/>
            <a:ext cx="54406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446520" y="1783080"/>
            <a:ext cx="594360" cy="59436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6446520" y="17830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7269480" y="155448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Implement BFS, DFS, Dijkstra and A* from scratch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3017520"/>
            <a:ext cx="54406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822960" y="3429000"/>
            <a:ext cx="594360" cy="594360"/>
          </a:xfrm>
          <a:prstGeom prst="ellipse">
            <a:avLst/>
          </a:prstGeom>
          <a:solidFill>
            <a:srgbClr val="1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822960" y="3429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1645920" y="320040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Verify correctness with 17 automated tests, including all-pairs checks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172200" y="3017520"/>
            <a:ext cx="54406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446520" y="3429000"/>
            <a:ext cx="594360" cy="59436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6446520" y="3429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269480" y="320040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Show routes and explored places in a web interface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4663440"/>
            <a:ext cx="54406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22960" y="5074920"/>
            <a:ext cx="594360" cy="594360"/>
          </a:xfrm>
          <a:prstGeom prst="ellipse">
            <a:avLst/>
          </a:prstGeom>
          <a:solidFill>
            <a:srgbClr val="1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822960" y="50749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1645920" y="484632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Analyse best, average and worst-case time and space complexity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172200" y="4663440"/>
            <a:ext cx="54406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446520" y="5074920"/>
            <a:ext cx="594360" cy="59436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6446520" y="50749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269480" y="484632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Compare theory with measurements for 25 to 2,500 locations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Existing Approach and Background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371600"/>
            <a:ext cx="544068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Basic approach: BFS and DFS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822960" y="2194560"/>
            <a:ext cx="49377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BFS: fewest hops, but ignores distance in metres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D2A24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DFS: finds some route, often long and winding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D2A24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Neither guarantees the shortest walking distance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D2A24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Both explore blindly, with no sense of direction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217920" y="1371600"/>
            <a:ext cx="5440680" cy="4480560"/>
          </a:xfrm>
          <a:prstGeom prst="rect">
            <a:avLst/>
          </a:prstGeom>
          <a:solidFill>
            <a:srgbClr val="14503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Need for the proposed approach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6492240" y="2194560"/>
            <a:ext cx="49377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Dijkstra: always expands the nearest place, guaranteeing the shortest route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A*: adds a straight-line estimate to head toward the goal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 all four to see the trade-off between route quality and work done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Proposed Approach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48640" y="1463040"/>
            <a:ext cx="246888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685800" y="251460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Campus routing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2999232" y="2103120"/>
            <a:ext cx="4023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3383280" y="1463040"/>
            <a:ext cx="246888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3474720" y="21031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3520440" y="251460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Sample and generated campuses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5833872" y="2103120"/>
            <a:ext cx="4023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217920" y="1463040"/>
            <a:ext cx="246888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309360" y="21031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6355080" y="251460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BFS, DFS, Dijkstra, A*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8668512" y="2103120"/>
            <a:ext cx="4023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9052560" y="1463040"/>
            <a:ext cx="246888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9052560" y="16002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9144000" y="21031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9189720" y="251460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Pseudocode and complexity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8640" y="3703320"/>
            <a:ext cx="246888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548640" y="38404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640080" y="4343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Implement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685800" y="475488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Python and Flask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2999232" y="4343400"/>
            <a:ext cx="4023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383280" y="3703320"/>
            <a:ext cx="246888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3383280" y="38404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3474720" y="4343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3520440" y="475488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17 tests, 25–2,500 places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833872" y="4343400"/>
            <a:ext cx="4023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217920" y="3703320"/>
            <a:ext cx="2468880" cy="173736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6217920" y="38404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309360" y="4343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6355080" y="475488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Quality, work, time, memory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8668512" y="4343400"/>
            <a:ext cx="4023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50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9052560" y="3703320"/>
            <a:ext cx="2468880" cy="1737360"/>
          </a:xfrm>
          <a:prstGeom prst="roundRect">
            <a:avLst>
              <a:gd fmla="val 6316" name="adj"/>
            </a:avLst>
          </a:prstGeom>
          <a:solidFill>
            <a:srgbClr val="1F6B4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9052560" y="38404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9144000" y="4343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9189720" y="475488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Tables, charts, conclusion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Algorithms Used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9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{60BBE06B-FAE7-44B5-8F80-38A79415DA6B}</a:tableStyleId>
              </a:tblPr>
              <a:tblGrid>
                <a:gridCol w="2011675"/>
                <a:gridCol w="3200400"/>
                <a:gridCol w="3291850"/>
                <a:gridCol w="25603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idea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selected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structure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BFS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Explore level by level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Fewest hops; simplest search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Queue (deque), parent map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 deep, then backtrack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Finds any route; shows no optimality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 (list), visited set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Dijkstra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Expand nearest place first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Guaranteed shortest distance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Min-heap (heapq), distance map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A*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Dijkstra + straight-line estimate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guarantee, fewer places explored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Min-heap on g + h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Algorithm / Pseudocode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48640" y="1280160"/>
            <a:ext cx="6035040" cy="4206240"/>
          </a:xfrm>
          <a:prstGeom prst="rect">
            <a:avLst/>
          </a:prstGeom>
          <a:solidFill>
            <a:srgbClr val="1B2420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777240" y="137160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E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EE3B8"/>
                </a:solidFill>
                <a:latin typeface="Calibri"/>
                <a:ea typeface="Calibri"/>
                <a:cs typeface="Calibri"/>
                <a:sym typeface="Calibri"/>
              </a:rPr>
              <a:t>Dijkstra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777240" y="1783080"/>
            <a:ext cx="557784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dist[start] &lt;- 0; heap &lt;- [(0, start)]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while heap not empty: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(d, u) &lt;- pop smallest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if u done: continue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mark u done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if u = goal: stop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for (v, w) in neighbours(u):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d + w &lt; dist[v]: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dist[v] &lt;- d + 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parent[v] &lt;- 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push (d + w, v)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6812280" y="1280160"/>
            <a:ext cx="4846320" cy="4206240"/>
          </a:xfrm>
          <a:prstGeom prst="rect">
            <a:avLst/>
          </a:prstGeom>
          <a:solidFill>
            <a:srgbClr val="1B2420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7040880" y="13716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E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EE3B8"/>
                </a:solidFill>
                <a:latin typeface="Calibri"/>
                <a:ea typeface="Calibri"/>
                <a:cs typeface="Calibri"/>
                <a:sym typeface="Calibri"/>
              </a:rPr>
              <a:t>BFS / DFS / A*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7040880" y="1783080"/>
            <a:ext cx="438912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BFS : queue (FIFO), first seen = parent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DFS : stack (LIFO), go deepest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A*  : same as Dijkstra, heap key 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  f(v) = g(v) + h(v)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  h = straight-line distance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  to the destination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Route: follow parent[] from goal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AE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0EAE4"/>
                </a:solidFill>
                <a:latin typeface="Courier New"/>
                <a:ea typeface="Courier New"/>
                <a:cs typeface="Courier New"/>
                <a:sym typeface="Courier New"/>
              </a:rPr>
              <a:t>       back to 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BFS, DFS: O(V+E)    |    Dijkstra, A*: O((V+E) log V)    |    Space: O(V)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System Design / Architecture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48640" y="1920240"/>
            <a:ext cx="2560320" cy="283464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685800" y="2103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User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31520" y="274320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Browser: pick map, start and destination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3090672" y="3017520"/>
            <a:ext cx="310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3383280" y="1920240"/>
            <a:ext cx="2560320" cy="283464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Flask API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3566160" y="274320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app.py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/api/network, /api/route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5925312" y="3017520"/>
            <a:ext cx="310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6217920" y="1920240"/>
            <a:ext cx="2560320" cy="2834640"/>
          </a:xfrm>
          <a:prstGeom prst="roundRect">
            <a:avLst>
              <a:gd fmla="val 4286" name="adj"/>
            </a:avLst>
          </a:prstGeom>
          <a:solidFill>
            <a:srgbClr val="14503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6355080" y="2103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Algorithms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6400800" y="274320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DE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CEDE3"/>
                </a:solidFill>
                <a:latin typeface="Calibri"/>
                <a:ea typeface="Calibri"/>
                <a:cs typeface="Calibri"/>
                <a:sym typeface="Calibri"/>
              </a:rPr>
              <a:t>BFS, DFS, Dijkstra, A*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DE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CEDE3"/>
                </a:solidFill>
                <a:latin typeface="Calibri"/>
                <a:ea typeface="Calibri"/>
                <a:cs typeface="Calibri"/>
                <a:sym typeface="Calibri"/>
              </a:rPr>
              <a:t>CampusGraph (adjacency list)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8759952" y="3017520"/>
            <a:ext cx="310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9052560" y="1920240"/>
            <a:ext cx="2560320" cy="283464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9189720" y="2103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Output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9235440" y="274320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Routes on SVG map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Cards, table, benchmark page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Data: data/campus.json (24 places, 41 paths) and generated campuses of 25–400 places for the app, up to 2,500 for benchmarks.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Implementation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48640" y="1371600"/>
            <a:ext cx="54406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Language and tools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822960" y="205740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Python 3. Standard library (deque, heapq, time, tracemalloc); Flask web app; pytest; matplotlib for charts.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6172200" y="1371600"/>
            <a:ext cx="54406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Important modules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6446520" y="205740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graph/graph.py, graph/data.py, algorithms/ (one file per algorithm), app.py, benchmarking/benchmark.py, tests/.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48640" y="3657600"/>
            <a:ext cx="54406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822960" y="38404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Data structures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822960" y="434340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Adjacency list (dict of lists), deque for BFS, list as stack for DFS, binary min-heap for Dijkstra and A*, dicts and sets for parent and visited.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6172200" y="3657600"/>
            <a:ext cx="54406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6446520" y="38404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Safety check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6446520" y="434340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add_path rejects a path shorter than the straight line, so the A* estimate never over-estimates and A* stays optimal.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Project Screenshots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548640" y="1188720"/>
            <a:ext cx="5440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./screenshots/01_input_screen.png" id="226" name="Google Shape;2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9428" y="1252728"/>
            <a:ext cx="3499104" cy="224942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/>
          <p:cNvSpPr txBox="1"/>
          <p:nvPr/>
        </p:nvSpPr>
        <p:spPr>
          <a:xfrm>
            <a:off x="548640" y="3584448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Input screen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172200" y="1188720"/>
            <a:ext cx="5440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./screenshots/03_astar_explored.png" id="229" name="Google Shape;22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7596" y="1252728"/>
            <a:ext cx="3209887" cy="2249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3"/>
          <p:cNvSpPr txBox="1"/>
          <p:nvPr/>
        </p:nvSpPr>
        <p:spPr>
          <a:xfrm>
            <a:off x="6172200" y="3584448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Processing: places explored by A*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48640" y="3840480"/>
            <a:ext cx="5440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rop_output.png" id="232" name="Google Shape;23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9973" y="3904488"/>
            <a:ext cx="3118013" cy="2249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3"/>
          <p:cNvSpPr txBox="1"/>
          <p:nvPr/>
        </p:nvSpPr>
        <p:spPr>
          <a:xfrm>
            <a:off x="548640" y="6236208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Output: all four routes and 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172200" y="3840480"/>
            <a:ext cx="5440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rop_perf.png" id="235" name="Google Shape;23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2988" y="3904488"/>
            <a:ext cx="3499104" cy="2249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 txBox="1"/>
          <p:nvPr/>
        </p:nvSpPr>
        <p:spPr>
          <a:xfrm>
            <a:off x="6172200" y="6236208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Performance results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Results: Measured Comparison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14"/>
          <p:cNvGraphicFramePr/>
          <p:nvPr/>
        </p:nvGraphicFramePr>
        <p:xfrm>
          <a:off x="5486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{60BBE06B-FAE7-44B5-8F80-38A79415DA6B}</a:tableStyleId>
              </a:tblPr>
              <a:tblGrid>
                <a:gridCol w="1188725"/>
                <a:gridCol w="1371600"/>
                <a:gridCol w="1280150"/>
                <a:gridCol w="1188725"/>
                <a:gridCol w="1280150"/>
              </a:tblGrid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(ms)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Explored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Route (m)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BFS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Dijkstra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A*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BFS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Dijkstra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A*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BFS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1.337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2498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3044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4014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Dijkstra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3.775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2498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2870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A*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4.617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2870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14"/>
          <p:cNvSpPr txBox="1"/>
          <p:nvPr/>
        </p:nvSpPr>
        <p:spPr>
          <a:xfrm>
            <a:off x="548640" y="59436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6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B63"/>
                </a:solidFill>
                <a:latin typeface="Calibri"/>
                <a:ea typeface="Calibri"/>
                <a:cs typeface="Calibri"/>
                <a:sym typeface="Calibri"/>
              </a:rPr>
              <a:t>Sizes are requested locations (generated campuses keep the biggest connected part, so actual counts are 1–2 lower). Also tested: 100 and 900, and all 552 trips on the sample campus (see report).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7086600" y="1234440"/>
            <a:ext cx="45720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./results/performance_nodes.png" id="246" name="Google Shape;2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7600" y="1280160"/>
            <a:ext cx="3810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/>
          <p:nvPr/>
        </p:nvSpPr>
        <p:spPr>
          <a:xfrm>
            <a:off x="7086600" y="3794760"/>
            <a:ext cx="45720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./results/performance_distance.png" id="248" name="Google Shape;24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7600" y="3840480"/>
            <a:ext cx="3810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Complexity Analysis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5" name="Google Shape;255;p15"/>
          <p:cNvGraphicFramePr/>
          <p:nvPr/>
        </p:nvGraphicFramePr>
        <p:xfrm>
          <a:off x="5486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{60BBE06B-FAE7-44B5-8F80-38A79415DA6B}</a:tableStyleId>
              </a:tblPr>
              <a:tblGrid>
                <a:gridCol w="2011675"/>
                <a:gridCol w="1463050"/>
                <a:gridCol w="3108950"/>
                <a:gridCol w="2926075"/>
                <a:gridCol w="15544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Space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5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BFS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O(V+E)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O(V+E)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O(V+E)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O(V+E)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Dijkstra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O((V+E) log V)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O((V+E) log V)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A*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below Dijkstra in practice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O((V+E) log V)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A2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D2A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15"/>
          <p:cNvSpPr/>
          <p:nvPr/>
        </p:nvSpPr>
        <p:spPr>
          <a:xfrm>
            <a:off x="548640" y="3749040"/>
            <a:ext cx="110642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"/>
          <p:cNvSpPr txBox="1"/>
          <p:nvPr/>
        </p:nvSpPr>
        <p:spPr>
          <a:xfrm>
            <a:off x="822960" y="3840480"/>
            <a:ext cx="10515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Theory vs practice 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Time grows roughly in step with V+E for all four. A* explored 20% fewer places than Dijkstra at 2,500 locations and 27% fewer at 400, with identical routes.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In Python, though, A* was not faster at large sizes (4.62 vs 3.77 ms): the heuristic and a larger heap cost extra. DFS was fastest (0.08 ms) but its routes were 1.4x longer; BFS routes were 6% longer.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Advantages, Limitations and Future Scope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548640" y="1371600"/>
            <a:ext cx="35661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1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17487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6"/>
          <p:cNvSpPr txBox="1"/>
          <p:nvPr/>
        </p:nvSpPr>
        <p:spPr>
          <a:xfrm>
            <a:off x="1554480" y="16002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Advantages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822960" y="2423160"/>
            <a:ext cx="31089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Simple, readable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Four algorithms, same inputs and metrics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Verified against Floyd–Warshall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Visual view of explored places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4297680" y="1371600"/>
            <a:ext cx="35661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4572000" y="1600200"/>
            <a:ext cx="594360" cy="59436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0590" y="17487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6"/>
          <p:cNvSpPr txBox="1"/>
          <p:nvPr/>
        </p:nvSpPr>
        <p:spPr>
          <a:xfrm>
            <a:off x="5303520" y="16002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Limitations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4572000" y="2423160"/>
            <a:ext cx="31089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Fictional sample campus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Distance is the only cost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Python timings, not production speed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One start and one destination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8046720" y="1371600"/>
            <a:ext cx="35661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8321040" y="1600200"/>
            <a:ext cx="594360" cy="594360"/>
          </a:xfrm>
          <a:prstGeom prst="ellipse">
            <a:avLst/>
          </a:prstGeom>
          <a:solidFill>
            <a:srgbClr val="145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9630" y="17487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6"/>
          <p:cNvSpPr txBox="1"/>
          <p:nvPr/>
        </p:nvSpPr>
        <p:spPr>
          <a:xfrm>
            <a:off x="9052560" y="16002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0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4503A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8321040" y="2423160"/>
            <a:ext cx="31089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Real campus map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Accessibility and crowd-aware costs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Bidirectional search, landmarks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D2A2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D2A24"/>
                </a:solidFill>
                <a:latin typeface="Calibri"/>
                <a:ea typeface="Calibri"/>
                <a:cs typeface="Calibri"/>
                <a:sym typeface="Calibri"/>
              </a:rPr>
              <a:t>Multi-stop trips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03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 and References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 txBox="1"/>
          <p:nvPr/>
        </p:nvSpPr>
        <p:spPr>
          <a:xfrm>
            <a:off x="548640" y="1371600"/>
            <a:ext cx="54864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Campus modelled as a weighted graph; four algorithms implemented and tested.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Dijkstra and A* guarantee the shortest route; BFS minimises hops, DFS finds any route.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A* explored 20–27% fewer places on larger campuses with identical routes.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Measurements agree with O(V+E) and O((V+E) log V) theory.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6400800" y="1371600"/>
            <a:ext cx="5257800" cy="4572000"/>
          </a:xfrm>
          <a:prstGeom prst="rect">
            <a:avLst/>
          </a:prstGeom>
          <a:solidFill>
            <a:srgbClr val="1D60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C9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6C9A8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6675120" y="2011680"/>
            <a:ext cx="47548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 (1959). A note on two problems in connexion with graphs. Numerische Mathematik 1.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Hart, Nilsson, Raphael (1968). A formal basis for the heuristic determination of minimum cost paths. IEEE SSC 4(2).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Cormen, Leiserson, Rivest, Stein. Introduction to Algorithms. MIT Press.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Python, Flask, pytest, matplotlib documentation. No external datasets.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